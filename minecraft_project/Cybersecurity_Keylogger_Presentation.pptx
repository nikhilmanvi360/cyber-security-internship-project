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-115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Advanced Multi-Platform Keylogger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Cybersecurity Research &amp; Penetration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95959"/>
                </a:solidFill>
              </a:defRPr>
            </a:pPr>
            <a:r>
              <a:t>Educational Project | November 2025</a:t>
            </a:r>
          </a:p>
          <a:p>
            <a:r>
              <a:t>Platforms: Windows | Linux | Android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Sophisticated cross-platform </a:t>
            </a:r>
            <a:r>
              <a:rPr dirty="0" err="1"/>
              <a:t>keylogger</a:t>
            </a:r>
            <a:r>
              <a:rPr dirty="0"/>
              <a:t> demonstrating:</a:t>
            </a:r>
          </a:p>
          <a:p>
            <a:pPr lvl="1">
              <a:defRPr sz="1800"/>
            </a:pPr>
            <a:r>
              <a:rPr dirty="0"/>
              <a:t>Low-level system hooks for keystroke capture</a:t>
            </a:r>
          </a:p>
          <a:p>
            <a:pPr lvl="1">
              <a:defRPr sz="1800"/>
            </a:pPr>
            <a:r>
              <a:rPr dirty="0"/>
              <a:t>Military-grade AES-256 encryption</a:t>
            </a:r>
          </a:p>
          <a:p>
            <a:pPr lvl="1">
              <a:defRPr sz="1800"/>
            </a:pPr>
            <a:r>
              <a:rPr dirty="0"/>
              <a:t>Biometric authentication (facial recognition)</a:t>
            </a:r>
          </a:p>
          <a:p>
            <a:pPr lvl="1">
              <a:defRPr sz="1800"/>
            </a:pPr>
            <a:r>
              <a:rPr dirty="0"/>
              <a:t>Covert network exfiltration via Discord </a:t>
            </a:r>
            <a:r>
              <a:rPr dirty="0" err="1"/>
              <a:t>webhooks</a:t>
            </a:r>
            <a:endParaRPr dirty="0"/>
          </a:p>
          <a:p>
            <a:pPr lvl="1">
              <a:defRPr sz="1800"/>
            </a:pPr>
            <a:r>
              <a:rPr dirty="0"/>
              <a:t>Multi-platform deployment (Windows, Linux, Android)</a:t>
            </a:r>
          </a:p>
          <a:p>
            <a:pPr lvl="1">
              <a:defRPr sz="1800"/>
            </a:pPr>
            <a:r>
              <a:rPr dirty="0"/>
              <a:t>Advanced persistence mechanisms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Main Controller: Orchestrates all components, manages lifecycle</a:t>
            </a:r>
          </a:p>
          <a:p>
            <a:pPr>
              <a:defRPr sz="1600"/>
            </a:pPr>
            <a:r>
              <a:t>KeyLogger Engine: Captures keystrokes using pynput library</a:t>
            </a:r>
          </a:p>
          <a:p>
            <a:pPr>
              <a:defRPr sz="1600"/>
            </a:pPr>
            <a:r>
              <a:t>Input Processor: Processes and formats keystroke data</a:t>
            </a:r>
          </a:p>
          <a:p>
            <a:pPr>
              <a:defRPr sz="1600"/>
            </a:pPr>
            <a:r>
              <a:t>Crypto Module: AES-256 encryption/decryption</a:t>
            </a:r>
          </a:p>
          <a:p>
            <a:pPr>
              <a:defRPr sz="1600"/>
            </a:pPr>
            <a:r>
              <a:t>Face Auth: Biometric authentication via OpenCV</a:t>
            </a:r>
          </a:p>
          <a:p>
            <a:pPr>
              <a:defRPr sz="1600"/>
            </a:pPr>
            <a:r>
              <a:t>Network Sender: Exfiltrates data to Discord webhook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Code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600"/>
            </a:pPr>
            <a:r>
              <a:rPr dirty="0"/>
              <a:t>Total Lines of Code: 593 lines</a:t>
            </a:r>
          </a:p>
          <a:p>
            <a:pPr>
              <a:defRPr sz="1600"/>
            </a:pPr>
            <a:r>
              <a:rPr dirty="0"/>
              <a:t>Programming Language: Python 3</a:t>
            </a:r>
          </a:p>
          <a:p>
            <a:pPr>
              <a:defRPr sz="1600"/>
            </a:pPr>
            <a:r>
              <a:rPr dirty="0"/>
              <a:t>Core Components: 7 modules</a:t>
            </a:r>
          </a:p>
          <a:p>
            <a:pPr>
              <a:defRPr sz="1600"/>
            </a:pPr>
            <a:r>
              <a:rPr dirty="0"/>
              <a:t>External Libraries: 6 (</a:t>
            </a:r>
            <a:r>
              <a:rPr dirty="0" err="1"/>
              <a:t>pynput</a:t>
            </a:r>
            <a:r>
              <a:rPr dirty="0"/>
              <a:t>, cryptography, </a:t>
            </a:r>
            <a:r>
              <a:rPr dirty="0" err="1"/>
              <a:t>opencv</a:t>
            </a:r>
            <a:r>
              <a:rPr dirty="0"/>
              <a:t>, etc.)</a:t>
            </a:r>
          </a:p>
          <a:p>
            <a:pPr>
              <a:defRPr sz="1600"/>
            </a:pPr>
            <a:r>
              <a:rPr dirty="0"/>
              <a:t>Platforms Supported: 3 (Windows, Linux, Android)</a:t>
            </a:r>
          </a:p>
          <a:p>
            <a:pPr>
              <a:defRPr sz="1600"/>
            </a:pPr>
            <a:r>
              <a:rPr dirty="0"/>
              <a:t>Encryption Strength: AES-256-CBC with HMAC-SHA256</a:t>
            </a:r>
          </a:p>
          <a:p>
            <a:pPr>
              <a:defRPr sz="1600"/>
            </a:pPr>
            <a:r>
              <a:rPr dirty="0"/>
              <a:t>Executable Size: 12-25 MB (platform dependent)</a:t>
            </a:r>
          </a:p>
          <a:p>
            <a:pPr>
              <a:defRPr sz="1600"/>
            </a:pPr>
            <a:r>
              <a:rPr dirty="0"/>
              <a:t>Memory Footprint: ~20-30 MB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KeyLogger Engine (logger.py)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Core Functionality:</a:t>
            </a:r>
          </a:p>
          <a:p>
            <a:pPr lvl="1">
              <a:defRPr sz="1600"/>
            </a:pPr>
            <a:r>
              <a:rPr dirty="0"/>
              <a:t>Event-driven architecture using </a:t>
            </a:r>
            <a:r>
              <a:rPr dirty="0" err="1"/>
              <a:t>pynput</a:t>
            </a:r>
            <a:r>
              <a:rPr dirty="0"/>
              <a:t> library</a:t>
            </a:r>
          </a:p>
          <a:p>
            <a:pPr lvl="1">
              <a:defRPr sz="1600"/>
            </a:pPr>
            <a:r>
              <a:rPr dirty="0"/>
              <a:t>Platform-specific hooks (Win32 API, </a:t>
            </a:r>
            <a:r>
              <a:rPr dirty="0" smtClean="0"/>
              <a:t>X11/</a:t>
            </a:r>
            <a:r>
              <a:rPr dirty="0" err="1" smtClean="0"/>
              <a:t>Xorg</a:t>
            </a:r>
            <a:r>
              <a:rPr dirty="0" smtClean="0"/>
              <a:t>)</a:t>
            </a:r>
            <a:r>
              <a:rPr lang="en-US" dirty="0" smtClean="0"/>
              <a:t>(HELPS TO READ INPUT )</a:t>
            </a:r>
            <a:endParaRPr dirty="0"/>
          </a:p>
          <a:p>
            <a:pPr lvl="1">
              <a:defRPr sz="1600"/>
            </a:pPr>
            <a:r>
              <a:rPr dirty="0"/>
              <a:t>Asynchronous key capture in separate </a:t>
            </a:r>
            <a:r>
              <a:rPr dirty="0" smtClean="0"/>
              <a:t>thread</a:t>
            </a:r>
            <a:r>
              <a:rPr lang="en-US" dirty="0" smtClean="0"/>
              <a:t>(</a:t>
            </a:r>
            <a:r>
              <a:rPr lang="en-US" b="1" dirty="0"/>
              <a:t>You can check if a key is being pressed at any moment</a:t>
            </a:r>
            <a:r>
              <a:rPr lang="en-US" b="1" dirty="0" smtClean="0"/>
              <a:t>,)</a:t>
            </a:r>
            <a:endParaRPr dirty="0"/>
          </a:p>
          <a:p>
            <a:pPr lvl="1">
              <a:defRPr sz="1600"/>
            </a:pPr>
            <a:r>
              <a:rPr dirty="0"/>
              <a:t>Callback pattern for key event handling</a:t>
            </a:r>
          </a:p>
          <a:p>
            <a:pPr lvl="1">
              <a:defRPr sz="1600"/>
            </a:pPr>
            <a:r>
              <a:rPr dirty="0"/>
              <a:t>Exception handling prevents crashes</a:t>
            </a:r>
          </a:p>
          <a:p>
            <a:pPr lvl="1">
              <a:defRPr sz="1600"/>
            </a:pPr>
            <a:r>
              <a:rPr dirty="0"/>
              <a:t>Non-blocking design for continuous operation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Input Processor (processor.py)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Key Processing Logic:</a:t>
            </a:r>
          </a:p>
          <a:p>
            <a:pPr lvl="1">
              <a:defRPr sz="1600"/>
            </a:pPr>
            <a:r>
              <a:rPr dirty="0"/>
              <a:t>Classifies keys: </a:t>
            </a:r>
            <a:r>
              <a:rPr dirty="0" err="1"/>
              <a:t>KeyCode</a:t>
            </a:r>
            <a:r>
              <a:rPr dirty="0"/>
              <a:t> (regular chars) </a:t>
            </a:r>
            <a:r>
              <a:rPr dirty="0" err="1"/>
              <a:t>vs</a:t>
            </a:r>
            <a:r>
              <a:rPr dirty="0"/>
              <a:t> Key (special)</a:t>
            </a:r>
          </a:p>
          <a:p>
            <a:pPr lvl="1">
              <a:defRPr sz="1600"/>
            </a:pPr>
            <a:r>
              <a:rPr dirty="0"/>
              <a:t>Maintains list-based buffer for O(1) append </a:t>
            </a:r>
            <a:r>
              <a:rPr dirty="0" smtClean="0"/>
              <a:t>operations</a:t>
            </a:r>
            <a:r>
              <a:rPr lang="en-US" dirty="0" smtClean="0"/>
              <a:t>(</a:t>
            </a:r>
            <a:r>
              <a:rPr lang="en-US" b="1" dirty="0"/>
              <a:t>Appending new data to the buffer is extremely fast</a:t>
            </a:r>
            <a:r>
              <a:rPr lang="en-US" b="1" dirty="0" smtClean="0"/>
              <a:t>.)</a:t>
            </a:r>
            <a:endParaRPr dirty="0"/>
          </a:p>
          <a:p>
            <a:pPr lvl="1">
              <a:defRPr sz="1600"/>
            </a:pPr>
            <a:r>
              <a:rPr dirty="0"/>
              <a:t>Handles special keys: Space, Enter, Backspace, etc.</a:t>
            </a:r>
          </a:p>
          <a:p>
            <a:pPr lvl="1">
              <a:defRPr sz="1600"/>
            </a:pPr>
            <a:r>
              <a:rPr dirty="0"/>
              <a:t>Preserves ALL keystrokes including modifiers</a:t>
            </a:r>
          </a:p>
          <a:p>
            <a:pPr lvl="1">
              <a:defRPr sz="1600"/>
            </a:pPr>
            <a:r>
              <a:rPr dirty="0"/>
              <a:t>Reconstructs full text on each keystroke</a:t>
            </a:r>
          </a:p>
          <a:p>
            <a:pPr lvl="1">
              <a:defRPr sz="1600"/>
            </a:pPr>
            <a:r>
              <a:rPr dirty="0"/>
              <a:t>Provides statistics (character count, word count)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1F4E79"/>
                </a:solidFill>
              </a:defRPr>
            </a:pPr>
            <a:r>
              <a:t>Encryption Module (crypto_utils.py)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Cryptographic Security:</a:t>
            </a:r>
          </a:p>
          <a:p>
            <a:pPr lvl="1">
              <a:defRPr sz="1600"/>
            </a:pPr>
            <a:r>
              <a:t>Fernet encryption (AES-256-CBC mode)</a:t>
            </a:r>
          </a:p>
          <a:p>
            <a:pPr lvl="1">
              <a:defRPr sz="1600"/>
            </a:pPr>
            <a:r>
              <a:t>256-bit symmetric key (military-grade)</a:t>
            </a:r>
          </a:p>
          <a:p>
            <a:pPr lvl="1">
              <a:defRPr sz="1600"/>
            </a:pPr>
            <a:r>
              <a:t>HMAC-SHA256 for authentication &amp; integrity</a:t>
            </a:r>
          </a:p>
          <a:p>
            <a:pPr lvl="1">
              <a:defRPr sz="1600"/>
            </a:pPr>
            <a:r>
              <a:t>Base64 encoding for storage</a:t>
            </a:r>
          </a:p>
          <a:p>
            <a:pPr lvl="1">
              <a:defRPr sz="1600"/>
            </a:pPr>
            <a:r>
              <a:t>Timestamp inclusion prevents replay attacks</a:t>
            </a:r>
          </a:p>
          <a:p>
            <a:pPr lvl="1">
              <a:defRPr sz="1600"/>
            </a:pPr>
            <a:r>
              <a:t>Key stored in secret.key 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1F4E79"/>
                </a:solidFill>
              </a:defRPr>
            </a:pPr>
            <a:r>
              <a:t>Biometric Authentication (face_auth.py)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 Recognition System:</a:t>
            </a:r>
          </a:p>
          <a:p>
            <a:pPr lvl="1">
              <a:defRPr sz="1600"/>
            </a:pPr>
            <a:r>
              <a:t>Haar Cascade Classifier for face detection</a:t>
            </a:r>
          </a:p>
          <a:p>
            <a:pPr lvl="1">
              <a:defRPr sz="1600"/>
            </a:pPr>
            <a:r>
              <a:t>LBPH (Local Binary Patterns Histograms) recognition</a:t>
            </a:r>
          </a:p>
          <a:p>
            <a:pPr lvl="1">
              <a:defRPr sz="1600"/>
            </a:pPr>
            <a:r>
              <a:t>Captures 30 face samples for training</a:t>
            </a:r>
          </a:p>
          <a:p>
            <a:pPr lvl="1">
              <a:defRPr sz="1600"/>
            </a:pPr>
            <a:r>
              <a:t>Confidence threshold &lt; 50 for authentication</a:t>
            </a:r>
          </a:p>
          <a:p>
            <a:pPr lvl="1">
              <a:defRPr sz="1600"/>
            </a:pPr>
            <a:r>
              <a:t>10-second timeout for authentication attempt</a:t>
            </a:r>
          </a:p>
          <a:p>
            <a:pPr lvl="1">
              <a:defRPr sz="1600"/>
            </a:pPr>
            <a:r>
              <a:t>Model stored in face_model.yml (4.3 MB)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1F4E79"/>
                </a:solidFill>
              </a:defRPr>
            </a:pPr>
            <a:r>
              <a:t>Network Exfiltration (network_sender.py)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Exfiltration Techniques:</a:t>
            </a:r>
          </a:p>
          <a:p>
            <a:pPr lvl="1">
              <a:defRPr sz="1600"/>
            </a:pPr>
            <a:r>
              <a:rPr dirty="0"/>
              <a:t>Discord </a:t>
            </a:r>
            <a:r>
              <a:rPr dirty="0" err="1"/>
              <a:t>webhook</a:t>
            </a:r>
            <a:r>
              <a:rPr dirty="0"/>
              <a:t> as C2 (Command &amp; Control)</a:t>
            </a:r>
          </a:p>
          <a:p>
            <a:pPr lvl="1">
              <a:defRPr sz="1600"/>
            </a:pPr>
            <a:r>
              <a:rPr dirty="0"/>
              <a:t>HTTPS traffic blends with legitimate Discord usage</a:t>
            </a:r>
          </a:p>
          <a:p>
            <a:pPr lvl="1">
              <a:defRPr sz="1600"/>
            </a:pPr>
            <a:r>
              <a:rPr dirty="0"/>
              <a:t>Automated sending every 30 </a:t>
            </a:r>
            <a:r>
              <a:rPr dirty="0" smtClean="0"/>
              <a:t>seconds</a:t>
            </a:r>
            <a:r>
              <a:rPr lang="en-US" dirty="0" smtClean="0"/>
              <a:t>(CAN BE CHANGED)</a:t>
            </a:r>
            <a:endParaRPr dirty="0"/>
          </a:p>
          <a:p>
            <a:pPr lvl="1">
              <a:defRPr sz="1600"/>
            </a:pPr>
            <a:r>
              <a:rPr dirty="0"/>
              <a:t>Connectivity check before transmission</a:t>
            </a:r>
          </a:p>
          <a:p>
            <a:pPr lvl="1">
              <a:defRPr sz="1600"/>
            </a:pPr>
            <a:r>
              <a:rPr dirty="0"/>
              <a:t>Truncates logs to 1900 chars (Discord limit)</a:t>
            </a:r>
          </a:p>
          <a:p>
            <a:pPr lvl="1">
              <a:defRPr sz="1600"/>
            </a:pPr>
            <a:r>
              <a:rPr dirty="0"/>
              <a:t>User-Agent spoofing (mimics browser traffic</a:t>
            </a:r>
            <a:r>
              <a:rPr dirty="0" smtClean="0"/>
              <a:t>)</a:t>
            </a:r>
            <a:r>
              <a:rPr lang="en-US" dirty="0" smtClean="0"/>
              <a:t>(TO COMMUNICATE WITH BACKEND FILE )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Main Controller (main.py)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Orchestration Logic:</a:t>
            </a:r>
          </a:p>
          <a:p>
            <a:pPr lvl="1">
              <a:defRPr sz="1600"/>
            </a:pPr>
            <a:r>
              <a:t>Detects portable execution (PyInstaller)</a:t>
            </a:r>
          </a:p>
          <a:p>
            <a:pPr lvl="1">
              <a:defRPr sz="1600"/>
            </a:pPr>
            <a:r>
              <a:t>Loads encryption key from secret.key</a:t>
            </a:r>
          </a:p>
          <a:p>
            <a:pPr lvl="1">
              <a:defRPr sz="1600"/>
            </a:pPr>
            <a:r>
              <a:t>Writes PID for process management</a:t>
            </a:r>
          </a:p>
          <a:p>
            <a:pPr lvl="1">
              <a:defRPr sz="1600"/>
            </a:pPr>
            <a:r>
              <a:t>Loads existing encrypted logs (persistence)</a:t>
            </a:r>
          </a:p>
          <a:p>
            <a:pPr lvl="1">
              <a:defRPr sz="1600"/>
            </a:pPr>
            <a:r>
              <a:t>Dual storage: encrypted (.enc) + plaintext (.txt)</a:t>
            </a:r>
          </a:p>
          <a:p>
            <a:pPr lvl="1">
              <a:defRPr sz="1600"/>
            </a:pPr>
            <a:r>
              <a:t>Continuous main loop with periodic exfiltration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Platform-Specific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Windows:</a:t>
            </a:r>
          </a:p>
          <a:p>
            <a:pPr lvl="1">
              <a:defRPr sz="1600"/>
            </a:pPr>
            <a:r>
              <a:t>PyInstaller, Win32 hooks, Registry autostart</a:t>
            </a:r>
          </a:p>
          <a:p>
            <a:pPr>
              <a:defRPr sz="1800" b="1"/>
            </a:pPr>
            <a:r>
              <a:t>Linux:</a:t>
            </a:r>
          </a:p>
          <a:p>
            <a:pPr lvl="1">
              <a:defRPr sz="1600"/>
            </a:pPr>
            <a:r>
              <a:t>PyInstaller, Xorg hooks, systemd services</a:t>
            </a:r>
          </a:p>
          <a:p>
            <a:pPr>
              <a:defRPr sz="1800" b="1"/>
            </a:pPr>
            <a:r>
              <a:t>Android:</a:t>
            </a:r>
          </a:p>
          <a:p>
            <a:pPr lvl="1">
              <a:defRPr sz="1600"/>
            </a:pPr>
            <a:r>
              <a:t>Buildozer, Accessibility Service, autostart on boot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Stealth &amp; Anti-Detection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Evasion Techniques:</a:t>
            </a:r>
          </a:p>
          <a:p>
            <a:pPr lvl="1">
              <a:defRPr sz="1600"/>
            </a:pPr>
            <a:r>
              <a:t>No GUI (--noconsole flag, runs silently)</a:t>
            </a:r>
          </a:p>
          <a:p>
            <a:pPr lvl="1">
              <a:defRPr sz="1600"/>
            </a:pPr>
            <a:r>
              <a:t>Hidden installation directories (.minecraft_updater)</a:t>
            </a:r>
          </a:p>
          <a:p>
            <a:pPr lvl="1">
              <a:defRPr sz="1600"/>
            </a:pPr>
            <a:r>
              <a:t>Legitimate-sounding name ('Minecraft Launcher')</a:t>
            </a:r>
          </a:p>
          <a:p>
            <a:pPr lvl="1">
              <a:defRPr sz="1600"/>
            </a:pPr>
            <a:r>
              <a:t>HTTPS encryption for network traffic</a:t>
            </a:r>
          </a:p>
          <a:p>
            <a:pPr lvl="1">
              <a:defRPr sz="1600"/>
            </a:pPr>
            <a:r>
              <a:t>Minimal CPU usage (&lt;1%)</a:t>
            </a:r>
          </a:p>
          <a:p>
            <a:pPr lvl="1">
              <a:defRPr sz="1600"/>
            </a:pPr>
            <a:r>
              <a:t>Small memory footprint (~20-30 MB)</a:t>
            </a:r>
          </a:p>
          <a:p>
            <a:pPr lvl="1">
              <a:defRPr sz="1600"/>
            </a:pPr>
            <a:r>
              <a:t>Blends with legitimate Discord traffic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Persistence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Windows: Registry Run key (HKCU\...\Run)</a:t>
            </a:r>
          </a:p>
          <a:p>
            <a:pPr>
              <a:defRPr sz="1600"/>
            </a:pPr>
            <a:r>
              <a:t>Linux: systemd user service with auto-restart</a:t>
            </a:r>
          </a:p>
          <a:p>
            <a:pPr>
              <a:defRPr sz="1600"/>
            </a:pPr>
            <a:r>
              <a:t>Android: BOOT_COMPLETED broadcast receiver</a:t>
            </a:r>
          </a:p>
          <a:p>
            <a:pPr>
              <a:defRPr sz="1600"/>
            </a:pPr>
            <a:r>
              <a:t>All Platforms: Encrypted log persistence across reboots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Security Features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Encryption: AES-256-CBC (military-grade)</a:t>
            </a:r>
          </a:p>
          <a:p>
            <a:pPr>
              <a:defRPr sz="1600"/>
            </a:pPr>
            <a:r>
              <a:t>Authentication: HMAC-SHA256 integrity verification</a:t>
            </a:r>
          </a:p>
          <a:p>
            <a:pPr>
              <a:defRPr sz="1600"/>
            </a:pPr>
            <a:r>
              <a:t>Biometrics: Facial recognition (LBPH algorithm)</a:t>
            </a:r>
          </a:p>
          <a:p>
            <a:pPr>
              <a:defRPr sz="1600"/>
            </a:pPr>
            <a:r>
              <a:t>Stealth: No GUI, hidden directories, process hiding</a:t>
            </a:r>
          </a:p>
          <a:p>
            <a:pPr>
              <a:defRPr sz="1600"/>
            </a:pPr>
            <a:r>
              <a:t>Persistence: Survives reboots, auto-restart on crash</a:t>
            </a:r>
          </a:p>
          <a:p>
            <a:pPr>
              <a:defRPr sz="1600"/>
            </a:pPr>
            <a:r>
              <a:t>Exfiltration: Covert HTTPS channel via Discord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Attack Vectors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Engineering Scenarios:</a:t>
            </a:r>
          </a:p>
          <a:p>
            <a:pPr lvl="1">
              <a:defRPr sz="1600"/>
            </a:pPr>
            <a:r>
              <a:t>Fake game launcher (targets gamers)</a:t>
            </a:r>
          </a:p>
          <a:p>
            <a:pPr lvl="1">
              <a:defRPr sz="1600"/>
            </a:pPr>
            <a:r>
              <a:t>Software bundle (bundled with legitimate software)</a:t>
            </a:r>
          </a:p>
          <a:p>
            <a:pPr lvl="1">
              <a:defRPr sz="1600"/>
            </a:pPr>
            <a:r>
              <a:t>USB drop attack (physical access)</a:t>
            </a:r>
          </a:p>
          <a:p>
            <a:pPr lvl="1">
              <a:defRPr sz="1600"/>
            </a:pPr>
            <a:r>
              <a:t>Trojanized installers (modified legitimate software)</a:t>
            </a:r>
          </a:p>
          <a:p>
            <a:pPr lvl="1">
              <a:defRPr sz="1600"/>
            </a:pPr>
            <a:r>
              <a:t>Phishing emails with malicious attachments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Detection &amp;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Detection Techniques:</a:t>
            </a:r>
          </a:p>
          <a:p>
            <a:pPr lvl="1">
              <a:defRPr sz="1600"/>
            </a:pPr>
            <a:r>
              <a:t>Monitor keyboard hook installations</a:t>
            </a:r>
          </a:p>
          <a:p>
            <a:pPr lvl="1">
              <a:defRPr sz="1600"/>
            </a:pPr>
            <a:r>
              <a:t>Detect registry autostart modifications</a:t>
            </a:r>
          </a:p>
          <a:p>
            <a:pPr lvl="1">
              <a:defRPr sz="1600"/>
            </a:pPr>
            <a:r>
              <a:t>Network traffic analysis (Discord webhooks)</a:t>
            </a:r>
          </a:p>
          <a:p>
            <a:pPr lvl="1">
              <a:defRPr sz="1600"/>
            </a:pPr>
            <a:r>
              <a:t>File integrity monitoring (%APPDATA% changes)</a:t>
            </a:r>
          </a:p>
          <a:p>
            <a:pPr lvl="1">
              <a:defRPr sz="1600"/>
            </a:pPr>
            <a:r>
              <a:t>Behavioral analysis (process patterns)</a:t>
            </a:r>
          </a:p>
          <a:p>
            <a:pPr lvl="1">
              <a:defRPr sz="1600"/>
            </a:pPr>
            <a:r>
              <a:t>Endpoint Detection &amp; Response (EDR) tools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Technical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500" b="1"/>
            </a:pPr>
            <a:r>
              <a:t>Cross-platform compatibility:</a:t>
            </a:r>
          </a:p>
          <a:p>
            <a:pPr lvl="1">
              <a:defRPr sz="1400"/>
            </a:pPr>
            <a:r>
              <a:t>pynput library abstracts OS differences</a:t>
            </a:r>
          </a:p>
          <a:p>
            <a:pPr>
              <a:defRPr sz="1500" b="1"/>
            </a:pPr>
            <a:r>
              <a:t>Stealth &amp; anti-detection:</a:t>
            </a:r>
          </a:p>
          <a:p>
            <a:pPr lvl="1">
              <a:defRPr sz="1400"/>
            </a:pPr>
            <a:r>
              <a:t>No GUI, hidden directories, HTTPS traffic</a:t>
            </a:r>
          </a:p>
          <a:p>
            <a:pPr>
              <a:defRPr sz="1500" b="1"/>
            </a:pPr>
            <a:r>
              <a:t>Data persistence:</a:t>
            </a:r>
          </a:p>
          <a:p>
            <a:pPr lvl="1">
              <a:defRPr sz="1400"/>
            </a:pPr>
            <a:r>
              <a:t>Encrypted logs loaded on startup</a:t>
            </a:r>
          </a:p>
          <a:p>
            <a:pPr>
              <a:defRPr sz="1500" b="1"/>
            </a:pPr>
            <a:r>
              <a:t>Network reliability:</a:t>
            </a:r>
          </a:p>
          <a:p>
            <a:pPr lvl="1">
              <a:defRPr sz="1400"/>
            </a:pPr>
            <a:r>
              <a:t>Connectivity checks, graceful failure</a:t>
            </a:r>
          </a:p>
          <a:p>
            <a:pPr>
              <a:defRPr sz="1500" b="1"/>
            </a:pPr>
            <a:r>
              <a:t>Android restrictions:</a:t>
            </a:r>
          </a:p>
          <a:p>
            <a:pPr lvl="1">
              <a:defRPr sz="1400"/>
            </a:pPr>
            <a:r>
              <a:t>Accessibility Service, battery optimization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Ethical &amp; Legal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Legal Framework:</a:t>
            </a:r>
          </a:p>
          <a:p>
            <a:pPr lvl="1">
              <a:defRPr sz="1500"/>
            </a:pPr>
            <a:r>
              <a:t>Computer Fraud &amp; Abuse Act (USA) - Up to 10 years</a:t>
            </a:r>
          </a:p>
          <a:p>
            <a:pPr lvl="1">
              <a:defRPr sz="1500"/>
            </a:pPr>
            <a:r>
              <a:t>GDPR violations (EU) - Fines up to €20 million</a:t>
            </a:r>
          </a:p>
          <a:p>
            <a:pPr lvl="1">
              <a:defRPr sz="1500"/>
            </a:pPr>
            <a:r>
              <a:t>Computer Misuse Act 1990 (UK) - Up to 2 years</a:t>
            </a:r>
          </a:p>
          <a:p>
            <a:pPr lvl="1">
              <a:defRPr sz="1500"/>
            </a:pPr>
            <a:r>
              <a:t>Legitimate Use Cases:</a:t>
            </a:r>
          </a:p>
          <a:p>
            <a:pPr>
              <a:defRPr sz="1500"/>
            </a:pPr>
            <a:r>
              <a:t>• Parental monitoring (with consent)</a:t>
            </a:r>
          </a:p>
          <a:p>
            <a:pPr>
              <a:defRPr sz="1500"/>
            </a:pPr>
            <a:r>
              <a:t>• Corporate security (with disclosure)</a:t>
            </a:r>
          </a:p>
          <a:p>
            <a:pPr>
              <a:defRPr sz="1500"/>
            </a:pPr>
            <a:r>
              <a:t>• Penetration testing (with authorization)</a:t>
            </a:r>
          </a:p>
          <a:p>
            <a:pPr>
              <a:defRPr sz="1500"/>
            </a:pPr>
            <a:r>
              <a:t>• Research &amp; education (isolated environment)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Key Learnings &amp; Skills Acquired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Low-level system programming (keyboard hooks)</a:t>
            </a:r>
          </a:p>
          <a:p>
            <a:pPr>
              <a:defRPr sz="1600"/>
            </a:pPr>
            <a:r>
              <a:t>Cryptography (AES-256, key management)</a:t>
            </a:r>
          </a:p>
          <a:p>
            <a:pPr>
              <a:defRPr sz="1600"/>
            </a:pPr>
            <a:r>
              <a:t>Computer vision (face detection &amp; recognition)</a:t>
            </a:r>
          </a:p>
          <a:p>
            <a:pPr>
              <a:defRPr sz="1600"/>
            </a:pPr>
            <a:r>
              <a:t>Network programming (HTTP, webhooks)</a:t>
            </a:r>
          </a:p>
          <a:p>
            <a:pPr>
              <a:defRPr sz="1600"/>
            </a:pPr>
            <a:r>
              <a:t>Cross-platform development (Windows/Linux/Android)</a:t>
            </a:r>
          </a:p>
          <a:p>
            <a:pPr>
              <a:defRPr sz="1600"/>
            </a:pPr>
            <a:r>
              <a:t>Stealth techniques (process hiding, persistence)</a:t>
            </a:r>
          </a:p>
          <a:p>
            <a:pPr>
              <a:defRPr sz="1600"/>
            </a:pPr>
            <a:r>
              <a:t>Build automation (PyInstaller, Buildozer)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1800"/>
            </a:pPr>
            <a:r>
              <a:t>This project demonstrates comprehensive understanding of:</a:t>
            </a:r>
          </a:p>
          <a:p>
            <a:endParaRPr/>
          </a:p>
          <a:p>
            <a:r>
              <a:t>• Offensive security techniques</a:t>
            </a:r>
          </a:p>
          <a:p>
            <a:r>
              <a:t>• Defensive cybersecurity measures</a:t>
            </a:r>
          </a:p>
          <a:p>
            <a:r>
              <a:t>• Cross-platform software development</a:t>
            </a:r>
          </a:p>
          <a:p>
            <a:r>
              <a:t>• Cryptographic implementations</a:t>
            </a:r>
          </a:p>
          <a:p>
            <a:r>
              <a:t>• Network security &amp; data exfiltration</a:t>
            </a:r>
          </a:p>
          <a:p>
            <a:endParaRPr/>
          </a:p>
          <a:p>
            <a:r>
              <a:t>Educational Purpose Only</a:t>
            </a:r>
          </a:p>
          <a:p>
            <a:r>
              <a:t>Unauthorized deployment is illegal and unethical.</a:t>
            </a:r>
          </a:p>
          <a:p>
            <a:r>
              <a:t>Always obtain proper authorization.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Thank You</a:t>
            </a:r>
          </a:p>
          <a:p>
            <a:endParaRPr/>
          </a:p>
          <a:p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95959"/>
                </a:solidFill>
              </a:defRPr>
            </a:pPr>
            <a:r>
              <a:t>Educational Research Project | November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978</Words>
  <Application>Microsoft Office PowerPoint</Application>
  <PresentationFormat>On-screen Show (4:3)</PresentationFormat>
  <Paragraphs>171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Project Overview</vt:lpstr>
      <vt:lpstr>System Architecture</vt:lpstr>
      <vt:lpstr>Code Statistics</vt:lpstr>
      <vt:lpstr>KeyLogger Engine (logger.py)</vt:lpstr>
      <vt:lpstr>Input Processor (processor.py)</vt:lpstr>
      <vt:lpstr>Encryption Module (crypto_utils.py)</vt:lpstr>
      <vt:lpstr>Biometric Authentication (face_auth.py)</vt:lpstr>
      <vt:lpstr>Network Exfiltration (network_sender.py)</vt:lpstr>
      <vt:lpstr>Main Controller (main.py)</vt:lpstr>
      <vt:lpstr>Platform-Specific Implementations</vt:lpstr>
      <vt:lpstr>Stealth &amp; Anti-Detection</vt:lpstr>
      <vt:lpstr>Persistence Mechanisms</vt:lpstr>
      <vt:lpstr>Security Features Summary</vt:lpstr>
      <vt:lpstr>Attack Vectors &amp; Deployment</vt:lpstr>
      <vt:lpstr>Detection &amp; Defense</vt:lpstr>
      <vt:lpstr>Technical Challenges &amp; Solutions</vt:lpstr>
      <vt:lpstr>Ethical &amp; Legal Considerations</vt:lpstr>
      <vt:lpstr>Key Learnings &amp; Skills Acquired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Nike Man</cp:lastModifiedBy>
  <cp:revision>4</cp:revision>
  <dcterms:created xsi:type="dcterms:W3CDTF">2013-01-27T09:14:16Z</dcterms:created>
  <dcterms:modified xsi:type="dcterms:W3CDTF">2025-11-22T15:38:58Z</dcterms:modified>
  <cp:category/>
</cp:coreProperties>
</file>